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51a21683f643a6" /><Relationship Type="http://schemas.openxmlformats.org/officeDocument/2006/relationships/extended-properties" Target="/docProps/app.xml" Id="Rfb3a4259e90048aa" /><Relationship Type="http://schemas.openxmlformats.org/officeDocument/2006/relationships/officeDocument" Target="/ppt/presentation.xml" Id="Ra28470cfb32841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47cea28c144676"/>
  </p:sldMasterIdLst>
  <p:notesMasterIdLst>
    <p:notesMasterId xmlns:r="http://schemas.openxmlformats.org/officeDocument/2006/relationships" r:id="R2d1d2e62b3284e6a"/>
  </p:notesMasterIdLst>
  <p:sldIdLst>
    <p:sldId xmlns:r="http://schemas.openxmlformats.org/officeDocument/2006/relationships" id="256" r:id="R279fa901ea3c478d"/>
    <p:sldId xmlns:r="http://schemas.openxmlformats.org/officeDocument/2006/relationships" id="257" r:id="R6d033e2e30a74a64"/>
    <p:sldId xmlns:r="http://schemas.openxmlformats.org/officeDocument/2006/relationships" id="258" r:id="Rfd2666ee007745f8"/>
    <p:sldId xmlns:r="http://schemas.openxmlformats.org/officeDocument/2006/relationships" id="259" r:id="R77a671cd96f64f55"/>
    <p:sldId xmlns:r="http://schemas.openxmlformats.org/officeDocument/2006/relationships" id="260" r:id="R5f3a801569fd4f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7cea28c144676" /><Relationship Type="http://schemas.openxmlformats.org/officeDocument/2006/relationships/theme" Target="/ppt/theme/theme1.xml" Id="R6fc659b2ca3343da" /><Relationship Type="http://schemas.openxmlformats.org/officeDocument/2006/relationships/notesMaster" Target="/ppt/notesMasters/notesMaster1.xml" Id="R2d1d2e62b3284e6a" /><Relationship Type="http://schemas.openxmlformats.org/officeDocument/2006/relationships/presProps" Target="/ppt/presProps.xml" Id="R655b9868b47d414e" /><Relationship Type="http://schemas.openxmlformats.org/officeDocument/2006/relationships/viewProps" Target="/ppt/viewProps.xml" Id="Re74a0b48adbf4722" /><Relationship Type="http://schemas.openxmlformats.org/officeDocument/2006/relationships/tableStyles" Target="/ppt/tableStyles.xml" Id="Rf4e6caad478c4afc" /><Relationship Type="http://schemas.openxmlformats.org/officeDocument/2006/relationships/slide" Target="/ppt/slides/slide1.xml" Id="R279fa901ea3c478d" /><Relationship Type="http://schemas.openxmlformats.org/officeDocument/2006/relationships/slide" Target="/ppt/slides/slide2.xml" Id="R6d033e2e30a74a64" /><Relationship Type="http://schemas.openxmlformats.org/officeDocument/2006/relationships/slide" Target="/ppt/slides/slide3.xml" Id="Rfd2666ee007745f8" /><Relationship Type="http://schemas.openxmlformats.org/officeDocument/2006/relationships/slide" Target="/ppt/slides/slide4.xml" Id="R77a671cd96f64f55" /><Relationship Type="http://schemas.openxmlformats.org/officeDocument/2006/relationships/slide" Target="/ppt/slides/slide5.xml" Id="R5f3a801569fd4f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109d572041148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676cdedf3048af" /><Relationship Type="http://schemas.openxmlformats.org/officeDocument/2006/relationships/notesMaster" Target="/ppt/notesMasters/notesMaster1.xml" Id="R220f02b9afe749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50704dd9ea4cb4" /><Relationship Type="http://schemas.openxmlformats.org/officeDocument/2006/relationships/notesMaster" Target="/ppt/notesMasters/notesMaster1.xml" Id="R2f4e2899ab8d4b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cf5a1930e94a2d" /><Relationship Type="http://schemas.openxmlformats.org/officeDocument/2006/relationships/notesMaster" Target="/ppt/notesMasters/notesMaster1.xml" Id="R22f640948ad94e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49da0317a94799" /><Relationship Type="http://schemas.openxmlformats.org/officeDocument/2006/relationships/notesMaster" Target="/ppt/notesMasters/notesMaster1.xml" Id="R2dc5e2e0af2f44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852179e85d433b" /><Relationship Type="http://schemas.openxmlformats.org/officeDocument/2006/relationships/notesMaster" Target="/ppt/notesMasters/notesMaster1.xml" Id="R19eb66ff8dc546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0156479fc492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9f51b391b0a4f5d" /><Relationship Type="http://schemas.openxmlformats.org/officeDocument/2006/relationships/slideLayout" Target="/ppt/slideLayouts/slideLayout2.xml" Id="Rfafbfa7c852b49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fbfa7c852b49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ade96d5d0a46ed" /><Relationship Type="http://schemas.openxmlformats.org/officeDocument/2006/relationships/notesSlide" Target="/ppt/notesSlides/notesSlide1.xml" Id="Red42613f0de84f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87c06799734655" /><Relationship Type="http://schemas.openxmlformats.org/officeDocument/2006/relationships/notesSlide" Target="/ppt/notesSlides/notesSlide2.xml" Id="Ra55217bb7f2f4a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6d481de65b4af1" /><Relationship Type="http://schemas.openxmlformats.org/officeDocument/2006/relationships/notesSlide" Target="/ppt/notesSlides/notesSlide3.xml" Id="R8d6d793d1d114f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82e60518ae4fe6" /><Relationship Type="http://schemas.openxmlformats.org/officeDocument/2006/relationships/notesSlide" Target="/ppt/notesSlides/notesSlide4.xml" Id="R65a7adc62a934e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82839a96684988" /><Relationship Type="http://schemas.openxmlformats.org/officeDocument/2006/relationships/notesSlide" Target="/ppt/notesSlides/notesSlide5.xml" Id="Rc19d41182f7e48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2B4EF0-0D61-4AEE-A167-1C21A020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B08"/>
          </a:solidFill>
          <a:ln xmlns:a="http://schemas.openxmlformats.org/drawingml/2006/main" w="0">
            <a:solidFill>
              <a:srgbClr val="0A0B0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53F28-1A57-4D69-ABD0-DF610F03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ARCHITECTURE PROPOSAL NOTE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A3BD2-700E-466F-ADE3-D6B89817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8C33A-8A93-4ABD-9E0A-9F3907C7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76350"/>
            <a:ext cx="790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E1FF8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0">
                <a:solidFill>
                  <a:srgbClr val="E1FF8A"/>
                </a:solidFill>
                <a:latin typeface="Aptos Display"/>
                <a:ea typeface="Aptos Display"/>
                <a:cs typeface="Aptos Display"/>
              </a:rPr>
              <a:t>SEMANTIC RAG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07960-EE22-4662-B145-FCB567CE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Similarity metric selection and a production migration path from local FAISS retrieval to Vertex AI Vector Search (Matching Engine).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753BE-2F12-491C-9325-AB10DBF0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2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8B0DC-6C04-4B65-89A3-75F97641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BENCHMARK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081D8-C7FD-4883-A72B-5BF21D8B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451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The current benchmark already proves the central design point: better semantic intent representation materially improves retrieval quality without changing the corpus or top-k policy.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E3F0B-0FEB-470C-A276-5B5629CB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RAW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B2260-C6C6-4725-951C-F7D0B58B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rPr>
              <a:t>0.417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CFD58-9F6B-4699-B2DA-73B298EE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386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AC9E"/>
                </a:solidFill>
                <a:latin typeface="Aptos"/>
                <a:ea typeface="Aptos"/>
                <a:cs typeface="Aptos"/>
              </a:rPr>
              <a:t>avg recall@k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D3BD5-19FC-4AFE-B161-4B5E8E5F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ENHANCED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E004A-EF3C-4750-9E85-843C1FC2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957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1FF8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1FF8A"/>
                </a:solidFill>
                <a:latin typeface="Aptos Display"/>
                <a:ea typeface="Aptos Display"/>
                <a:cs typeface="Aptos Display"/>
              </a:rPr>
              <a:t>0.833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21DB1-0DD3-4921-AF5E-8844A2B3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386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AC9E"/>
                </a:solidFill>
                <a:latin typeface="Aptos"/>
                <a:ea typeface="Aptos"/>
                <a:cs typeface="Aptos"/>
              </a:rPr>
              <a:t>avg recall@k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79805-7D46-4C43-81D2-542AD95E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00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RAW 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2ADF6-4110-4480-8D99-7D4E4018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rPr>
              <a:t>0.417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7C43F-2F6E-483B-9AB2-ED1FC48E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AC9E"/>
                </a:solidFill>
                <a:latin typeface="Aptos"/>
                <a:ea typeface="Aptos"/>
                <a:cs typeface="Aptos"/>
              </a:rPr>
              <a:t>avg MRR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57E80-B1DB-4B47-B828-EADE8710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00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ENHANCED 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4AD78-6716-44BC-976B-89FEB312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72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1FF8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1FF8A"/>
                </a:solidFill>
                <a:latin typeface="Aptos Display"/>
                <a:ea typeface="Aptos Display"/>
                <a:cs typeface="Aptos Display"/>
              </a:rPr>
              <a:t>0.875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B2E17-124E-4D94-BD02-B4AE8307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14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AC9E"/>
                </a:solidFill>
                <a:latin typeface="Aptos"/>
                <a:ea typeface="Aptos"/>
                <a:cs typeface="Aptos"/>
              </a:rPr>
              <a:t>avg MRR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518C7-F0CC-4140-9EC6-46ADC2EE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268"/>
                </a:solidFill>
                <a:latin typeface="Aptos"/>
                <a:ea typeface="Aptos"/>
                <a:cs typeface="Aptos"/>
              </a:rPr>
              <a:t>Prepared for assessment review | retrieval architecture and productionization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9C4FD0-300C-4D8E-82F2-8BC10AF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86684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AB7204-1283-45B7-9445-CD152497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B08"/>
          </a:solidFill>
          <a:ln xmlns:a="http://schemas.openxmlformats.org/drawingml/2006/main" w="0">
            <a:solidFill>
              <a:srgbClr val="0A0B0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95FB7-7B8A-42CB-B10F-E821FBD8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4D35A-3022-4422-99BF-FE554544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46191-84FD-440F-B986-93D99DEE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770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1FF8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0">
                <a:solidFill>
                  <a:srgbClr val="E1FF8A"/>
                </a:solidFill>
                <a:latin typeface="Aptos Display"/>
                <a:ea typeface="Aptos Display"/>
                <a:cs typeface="Aptos Display"/>
              </a:rPr>
              <a:t>COSINE SIMILARITY IS THE RIGHT METRIC FOR THIS EMBEDDING 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6DAD3-CCFA-4673-8DFF-9011B0E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AC9E"/>
                </a:solidFill>
                <a:latin typeface="Aptos"/>
                <a:ea typeface="Aptos"/>
                <a:cs typeface="Aptos"/>
              </a:rPr>
              <a:t>The retrieval engine uses sentence-transformer vectors where semantic meaning is carried primarily by direction, not magnitude.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9626C-5E52-4EF3-AE70-D9319DA2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64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rPr>
              <a:t>Why the metric choice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2F469-2884-4C8F-B783-3A2F44CA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60202-2991-47E9-95C6-BF52EA60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305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Transformer embeddings are typically normalized before search, which makes cosine similarity a direct measure of semantic alignment.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9662A-C83A-426C-ADEC-8C2AB7DE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D1A02-672C-4535-AEB2-7E388861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305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Cosine stays stable when vector magnitude drifts because of phrasing length, token density, or model-specific scaling behavior.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EA080-C497-46C2-B01A-1F68E3A4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E7259-A98B-4ED2-A0E5-A02167FD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4305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FAISS inner-product search over normalized vectors is operationally simple and maps cleanly to managed vector search backends.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AABCE-9AA8-4C9D-9113-A13986F5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25908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16F94-FB08-4434-9A06-8A04CB96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431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Cosine similarity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B0913-6A68-4C85-8460-17A0796D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8600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Compares angle between vectors.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Best for dense semantic embeddings where direction captures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Operational fit:</a:t>
            </a:r>
          </a:p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normalize once, search consistently, rank semantically.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0E771-B460-418E-ACEB-0983B740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9908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5FF68-257E-4A8D-83AA-E48335EE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D6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D66D"/>
                </a:solidFill>
                <a:latin typeface="Aptos"/>
                <a:ea typeface="Aptos"/>
                <a:cs typeface="Aptos"/>
              </a:rPr>
              <a:t>Euclidean distance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2553A-B977-4422-B398-7E7B83E3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2647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Compares absolute geometric distance.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More sensitive to magnitude and scaling variance.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Operational risk:</a:t>
            </a:r>
          </a:p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can over-penalize vectors that are semantically close but numerically longer.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D15A1-FE23-4E0C-9528-F167BAD7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05300"/>
            <a:ext cx="5753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2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763E9-AD11-40D7-AD3A-CDDE5E08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76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Semantic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3ED64-EF45-4E47-9498-0DC912E9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767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Angle of alignment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5980B3-746E-4123-AA44-73545DCD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Absolute distance in space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D1112-6A7C-41A9-BB12-FCD4520B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0535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3E6C8B-80E6-4249-90FA-CCB2DE9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81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Sensitivity to scale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F2B226-A7BB-4CD7-87CF-DCFF752E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815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Low after normalization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24E85D-C5E3-4F51-A734-346A1645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815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Higher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C4C39C-68F9-4B32-B4B7-C0D8D696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015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056982-8F00-41F7-A8D4-1C616890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863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FAISS implementation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FB7662-1A21-4CF5-AB60-6ED65845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863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IndexFlatIP on normalized vectors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5F5249-A15E-40B6-A1D8-557F6F8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863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IndexFlatL2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878EC-7372-47EA-9376-38AEAB83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AA0729-CBD5-4227-B65A-52D77062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91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62315A-6872-44EF-83F3-85FC4F95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911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Preferred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28B7B2-830B-4A77-9BFF-AE71688F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91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Secondary only for non-normalized features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DEAEBF-B1AD-452A-A423-439532CB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15611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712B1B-9580-4CC8-AD01-0710720B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B08"/>
          </a:solidFill>
          <a:ln xmlns:a="http://schemas.openxmlformats.org/drawingml/2006/main" w="0">
            <a:solidFill>
              <a:srgbClr val="0A0B0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8A44C-2363-455F-821C-408050A5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2CFF8-D4F0-4D86-8B75-5C61D45A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56648-64DE-45E2-817A-173EBF6E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770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1FF8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0">
                <a:solidFill>
                  <a:srgbClr val="E1FF8A"/>
                </a:solidFill>
                <a:latin typeface="Aptos Display"/>
                <a:ea typeface="Aptos Display"/>
                <a:cs typeface="Aptos Display"/>
              </a:rPr>
              <a:t>THE BENCHMARK SHOWS THAT BETTER QUERY SEMANTICS DRIVE BETTER RETRIEVAL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DB29F-0D3B-4BEF-BADC-DE5E78D0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AC9E"/>
                </a:solidFill>
                <a:latin typeface="Aptos"/>
                <a:ea typeface="Aptos"/>
                <a:cs typeface="Aptos"/>
              </a:rPr>
              <a:t>Both strategies use the same corpus, chunking policy, vector index, and similarity metric. The gain comes from richer query representation before embedding.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BABC8-9410-4900-86D5-258BFE1F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75AAA-F66C-4036-AB62-77E43BCA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STRATEGY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F974B-4E0A-4169-A589-AAB60AAE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rPr>
              <a:t>0.417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FFEE7-8F0E-434D-9FDC-5331E9E9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Average recall@k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B037C-B3B4-4126-A34F-7A20DCC7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C9D69-3868-422F-8648-C76BB30E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STRATEGY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DA805-BBAD-4D4B-AD03-CEE1746E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1FF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1FF8A"/>
                </a:solidFill>
                <a:latin typeface="Aptos Display"/>
                <a:ea typeface="Aptos Display"/>
                <a:cs typeface="Aptos Display"/>
              </a:rPr>
              <a:t>0.833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60C73-3604-4D0C-91CC-14BB9D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Average recall@k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3B195-3A95-40F6-BA58-3DA3ACE4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F5C76-A86E-4571-91AE-F4653621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STRATEGY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90FC6-9024-4921-9816-C3CA72D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rPr>
              <a:t>0.417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31CA2-88D0-47FA-9ED3-8F6360C1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Average MRR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841B3-8231-4D39-B9E7-7817B8CC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E673F-3675-49AB-8E7E-C53330D6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AC9E"/>
                </a:solidFill>
                <a:latin typeface="Aptos"/>
                <a:ea typeface="Aptos"/>
                <a:cs typeface="Aptos"/>
              </a:rPr>
              <a:t>STRATEGY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036A30-4B42-4E99-9DBD-A3A7EDA2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1FF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1FF8A"/>
                </a:solidFill>
                <a:latin typeface="Aptos Display"/>
                <a:ea typeface="Aptos Display"/>
                <a:cs typeface="Aptos Display"/>
              </a:rPr>
              <a:t>0.875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B95B7-BAFF-4F88-9FEF-C1F1BFFD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767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Average MRR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D459A-DFCF-43D3-850E-A22A5FC3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Interpretation: cosine similarity remains constant across both strategies, so the benchmark isolates the effect of semantic query expansion. That is the correct design behavior for a RAG retrieval tier.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08865-AA8B-46BA-A92C-54011B0F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410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74A8D6-A9FF-4CB3-9062-7C823EAA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506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What the score change actually means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5CAE0-269A-4802-B389-6093EB2E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95550"/>
            <a:ext cx="5067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Strategy B nearly doubles average recall because the rewritten query lands closer to the engineering language present in the indexed corpus.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MRR also improves sharply, which means the first relevant chunk moves materially closer to rank one. This is the behavior expected from a retrieval system whose semantic representation is improving without changing the index itself.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2FD2E-43D7-4836-8117-7507E56B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5410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1E9C4F-6F5F-4536-87D2-597EB2F4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506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D6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D66D"/>
                </a:solidFill>
                <a:latin typeface="Aptos"/>
                <a:ea typeface="Aptos"/>
                <a:cs typeface="Aptos"/>
              </a:rPr>
              <a:t>Why Euclidean would be weaker here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AE38B-399E-4C3E-8466-C1B92193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8650"/>
            <a:ext cx="5067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If search ranking depended more on vector magnitude, these gains would be noisier because longer or denser rewrites could distort distance. Cosine avoids that failure mode and preserves the architectural intent: compare meaning, not scale.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3360D0-7E40-4FC0-8DA0-C0FB2C66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05567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969736-1C62-492E-B078-5C820086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B08"/>
          </a:solidFill>
          <a:ln xmlns:a="http://schemas.openxmlformats.org/drawingml/2006/main" w="0">
            <a:solidFill>
              <a:srgbClr val="0A0B0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D1842-AF9A-4F85-8C75-81ECBED7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07A42-1567-4392-ADD2-856BC36D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TARGET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287A3-E0B9-4AEC-9EFF-873F083D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770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1FF8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0">
                <a:solidFill>
                  <a:srgbClr val="E1FF8A"/>
                </a:solidFill>
                <a:latin typeface="Aptos Display"/>
                <a:ea typeface="Aptos Display"/>
                <a:cs typeface="Aptos Display"/>
              </a:rPr>
              <a:t>VERTEX AI MATCHING ENGINE IS AN EVOLUTION OF THE RETRIEVAL TIER, NOT A REDESIGN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49E79-DB18-49B3-AAF5-DE2E3B31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AC9E"/>
                </a:solidFill>
                <a:latin typeface="Aptos"/>
                <a:ea typeface="Aptos"/>
                <a:cs typeface="Aptos"/>
              </a:rPr>
              <a:t>The application contracts around chunking, embeddings, query expansion, metadata, and benchmark evaluation should stay stable while the vector backend becomes managed and production-grade.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44B67-EFFD-433E-95C3-82626AE6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962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DE381-7AC7-4A6F-9BE2-A9A6E2DA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1. Ingestion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31F17-FD6D-40CC-A9BC-AF62FED3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657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Document loader</a:t>
            </a:r>
          </a:p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Preprocessing</a:t>
            </a:r>
          </a:p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Chunking</a:t>
            </a:r>
          </a:p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Metadata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295D7-C27D-41AB-BBF7-F829372B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14550"/>
            <a:ext cx="1962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036EB-F1C2-4107-8F3E-08B73F00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2. Embeddings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AA568-6378-44F7-A8D7-4634EDCC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14600"/>
            <a:ext cx="1657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SentenceTransformer today</a:t>
            </a:r>
          </a:p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Vertex-hosted or managed model later</a:t>
            </a:r>
          </a:p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Versioned embedding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0289B-20EC-4C35-8501-FE996D1A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1962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46B25-068C-4F4D-ACA7-4E3B90A5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479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3. Vector 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A0D94-4F05-4390-9F63-1FFF2415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14600"/>
            <a:ext cx="1657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FAISS local index today</a:t>
            </a:r>
          </a:p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Matching Engine deployed index in production</a:t>
            </a:r>
          </a:p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Approximate nearest neighbor at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B680C-DBC6-4106-9FB3-D4881712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5FEBC-F403-42BE-8C4E-475E82D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4. Retrieval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166AD-87EB-4BD0-A2A4-98955AC1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Query rewrite</a:t>
            </a:r>
          </a:p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Embedding lookup</a:t>
            </a:r>
          </a:p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Top-k fetch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AAB70-54D2-4042-9940-89024104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14550"/>
            <a:ext cx="1314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528FD-DD6D-4265-94A6-2D84373B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479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5. 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1276A-467E-4DD7-A322-94A01609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14600"/>
            <a:ext cx="1009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Ranked chunks</a:t>
            </a:r>
          </a:p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Scores</a:t>
            </a:r>
          </a:p>
          <a:p xmlns:a="http://schemas.openxmlformats.org/drawingml/2006/main">
            <a:pPr algn="l">
              <a:defRPr sz="1125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Observations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DC24A-424E-4414-8802-C63C0D4F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7652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226BD-1E35-4C2B-ABE5-8B182953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38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C2B25-B8D2-452F-8FE4-217BE0CE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7652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C2375-591E-4401-9522-62BF8940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38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FEBBDF-784D-4674-86FA-5EA60939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7652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56EE6A-C29F-42D5-BB2E-4FE5A50E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38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F6333-C48A-4F76-AD9B-E6DFCBC9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765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9245E-4097-4696-8309-ABA82C4E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38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A627CC-B331-437F-B6C0-2A070157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5143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BE578E-5B91-4CF7-9523-4B3AC923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What stays stable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9361B2-54D6-4228-BB7C-C053CC90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4800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VectorStore remains the architectural seam. The application still owns chunk identity, metadata shape, benchmark logic, and the retrieval API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This is important because productionizing the vector layer should not force a rewrite of the semantic retrieval service.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D52786-A9AD-409E-827F-0D3D4B39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5143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0F"/>
          </a:solidFill>
          <a:ln xmlns:a="http://schemas.openxmlformats.org/drawingml/2006/main" w="9525">
            <a:solidFill>
              <a:srgbClr val="35382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A62DAD-3E0F-474B-8FAF-12FF20AF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What changes in production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287AF2-24A5-4A69-8B04-B7CF6E9C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4800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Index build moves out of process, vector search becomes managed, metadata shifts to a persistent store, and deployment adds observability, IAM, versioned rollouts, and latency budgets.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The migration is therefore operational, not conceptual.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AE00F2-26BB-4BD7-9C79-C0385FC6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39045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5BEAD6-70DD-4720-90CA-A55BD6DD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B08"/>
          </a:solidFill>
          <a:ln xmlns:a="http://schemas.openxmlformats.org/drawingml/2006/main" w="0">
            <a:solidFill>
              <a:srgbClr val="0A0B0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BE67E-E12F-478C-91EA-767EA685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A5F75-40B3-4CDB-B776-57D361C6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FA4CF-1FCF-4230-82BF-2E3C43F2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770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1FF8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0">
                <a:solidFill>
                  <a:srgbClr val="E1FF8A"/>
                </a:solidFill>
                <a:latin typeface="Aptos Display"/>
                <a:ea typeface="Aptos Display"/>
                <a:cs typeface="Aptos Display"/>
              </a:rPr>
              <a:t>MIGRATION SHOULD BE PHASED, BENCHMARK-GATED, AND REVERSIBLE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756B9-08A2-4A59-9F6A-8AA0CF13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AC9E"/>
                </a:solidFill>
                <a:latin typeface="Aptos"/>
                <a:ea typeface="Aptos"/>
                <a:cs typeface="Aptos"/>
              </a:rPr>
              <a:t>The correct production move is not a hard swap from FAISS to Matching Engine. It is a controlled rollout with interface hardening, parity checks, shadow traffic, and a retained rollback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353F8-26B3-4363-86F4-480E3827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10210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577F3-67F6-480D-AE50-BDAB5279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643B3-45F6-45E9-95F6-0FC0256A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rPr>
              <a:t>Phase 1: Stabilize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1114E-05D1-47AE-8EAA-00BD9F8B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Freeze the VectorStore contract, finalize metadata schema, and make benchmark outputs part of the deployment gate.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AFAF4-11CE-4323-9889-99AFDB1D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Week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249E1-048F-44CA-A137-8FC08026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FEC7B-E8B3-49E0-B3F9-7A2A103A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718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rPr>
              <a:t>Phase 2: Dual-Index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04B86-B7B0-4F5F-B64D-A0772DFB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338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Index the same embeddings into FAISS and Matching Engine. Validate top-k parity, recall drift, and tail latency under replayed queries.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3F100-6BE8-47A1-ADB3-04A9622B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53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Weeks 2-3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E3F21-5F52-4CD5-AA0A-0CED90CD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E67CD-7AD7-4D97-855F-0908AD52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rPr>
              <a:t>Phase 3: Shadow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66733-E3C0-482F-B17A-C3FB61BB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Mirror live traffic through the managed index, capture divergence, and verify that retrieval quality holds under real query distribution.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A17E0-05F6-4224-9830-F82AD87F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Week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C5DDC-E4E4-42DC-860B-7BE4AB58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F8A"/>
          </a:solidFill>
          <a:ln xmlns:a="http://schemas.openxmlformats.org/drawingml/2006/main" w="0">
            <a:solidFill>
              <a:srgbClr val="E1FF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A8816-3A6B-41C8-91AA-D7899431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718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3F4ED"/>
                </a:solidFill>
                <a:latin typeface="Aptos Display"/>
                <a:ea typeface="Aptos Display"/>
                <a:cs typeface="Aptos Display"/>
              </a:rPr>
              <a:t>Phase 4: Cutover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5D911-2190-4758-829C-7D28F782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38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3F4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4ED"/>
                </a:solidFill>
                <a:latin typeface="Aptos"/>
                <a:ea typeface="Aptos"/>
                <a:cs typeface="Aptos"/>
              </a:rPr>
              <a:t>Promote Matching Engine behind the existing service layer, keep FAISS as rollback, and operationalize benchmark regression alerts.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0A510-BA19-4F0C-8EB4-F12C3478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1F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1FF8A"/>
                </a:solidFill>
                <a:latin typeface="Aptos"/>
                <a:ea typeface="Aptos"/>
                <a:cs typeface="Aptos"/>
              </a:rPr>
              <a:t>Week 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B54D4-C5E2-4161-AC97-C34BBB56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01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C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AC9E"/>
                </a:solidFill>
                <a:latin typeface="Aptos"/>
                <a:ea typeface="Aptos"/>
                <a:cs typeface="Aptos"/>
              </a:rPr>
              <a:t>Recommended end state: Matching Engine for managed vector search, persistent metadata storage, automated benchmark checks, and the same query-expansion-led retrieval contract retained at the application layer.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A0082-873D-4A84-AA6D-8BDD3CC5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2F"/>
          </a:solidFill>
          <a:ln xmlns:a="http://schemas.openxmlformats.org/drawingml/2006/main" w="0">
            <a:solidFill>
              <a:srgbClr val="35382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2116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2026-05-12T06:23:43.9880000Z</dcterms:created>
  <dcterms:modified xsi:type="dcterms:W3CDTF">2026-05-12T06:23:43.9880000Z</dcterms:modified>
</coreProperties>
</file>